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Imagem ilustrativa gerada por IA para representar atendimento. Não retrata a equipe ou a loja real da Innovare.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Conteúdo institucional baseado nas informações fornecidas pela empresa.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E0C0E8B-D5FF-42AB-9AC1-45AC1EE99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F24E9536-2110-456C-A49B-09FA0336B2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1CC4874-E8A7-4E90-A86C-2C7A50CFD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8AA1BA9-2DF8-4F1E-BB51-3009EC648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44B86DF-160C-489D-9158-E9453CD00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7CE3D69-ED63-4B1F-8F29-D5EEF948B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91DAAB7-F25A-404E-AC03-670849992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300AB008-84DB-47B9-9497-3F806EB5EB8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2DFB943-3DC0-4EA3-84E6-79D49AABA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ADCC448-7BE4-423C-861C-AB67655918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>
            <a:extLst>
              <a:ext uri="{FF2B5EF4-FFF2-40B4-BE49-F238E27FC236}">
                <a16:creationId xmlns:a16="http://schemas.microsoft.com/office/drawing/2014/main" id="{C33699B7-56FF-4CDB-B55E-80BE2BFCA727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Innovare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558CF82-5A39-470D-9BAE-A039E1D000BA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D041EC9E-6FAE-44A9-800C-69E84B769418}"/>
              </a:ext>
            </a:extLst>
          </p:cNvPr>
          <p:cNvSpPr>
            <a:spLocks noGrp="1"/>
          </p:cNvSpPr>
          <p:nvPr/>
        </p:nvSpPr>
        <p:spPr>
          <a:xfrm>
            <a:off x="685800" y="1428750"/>
            <a:ext cx="5334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7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7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Soluções em Crédito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2BCD965-30EB-47C4-B0DD-5174A1CA2A23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56197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Está precisando</a:t>
            </a:r>
          </a:p>
          <a:p>
            <a:pPr>
              <a:def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9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 dinheiro?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99AE4081-EE0C-49A9-A8F6-91BA9F61CE69}"/>
              </a:ext>
            </a:extLst>
          </p:cNvPr>
          <p:cNvSpPr>
            <a:spLocks noGrp="1"/>
          </p:cNvSpPr>
          <p:nvPr/>
        </p:nvSpPr>
        <p:spPr>
          <a:xfrm>
            <a:off x="685800" y="4238625"/>
            <a:ext cx="56197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8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8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8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8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8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8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8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8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8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8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8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28A2B"/>
                </a:solidFill>
                <a:latin typeface="DejaVu Sans"/>
                <a:ea typeface="DejaVu Sans"/>
                <a:cs typeface="DejaVu Sans"/>
              </a:rPr>
              <a:t>A Innovare tem a</a:t>
            </a:r>
          </a:p>
          <a:p>
            <a:pPr>
              <a:defRPr sz="28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F28A2B"/>
                </a:solidFill>
                <a:latin typeface="DejaVu Sans"/>
                <a:ea typeface="DejaVu Sans"/>
                <a:cs typeface="DejaVu Sans"/>
              </a:rPr>
              <a:t>solução para você!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909E000-2D17-41EB-BECB-CF26B8EC9B66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571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Apresentação institucional</a:t>
            </a:r>
          </a:p>
          <a:p>
            <a:pPr>
              <a:def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Jaguaquara – BA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137C471-6160-4F97-966B-1208C10660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860" r="21860"/>
          <a:stretch>
            <a:fillRect/>
          </a:stretch>
        </p:blipFill>
        <p:spPr>
          <a:xfrm>
            <a:off x="6191250" y="0"/>
            <a:ext cx="6000750" cy="600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199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164C64E7-9272-4D85-992C-06CF2C688AF8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rPr>
              <a:t>Quem somos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2739AD3-298B-4B60-A558-C1113A8EDBF3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9F49D628-6E53-49B1-9EF1-F0D43EEB4ED5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9525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700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700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768B3"/>
                </a:solidFill>
                <a:latin typeface="DejaVu Sans"/>
                <a:ea typeface="DejaVu Sans"/>
                <a:cs typeface="DejaVu Sans"/>
              </a:rPr>
              <a:t>Crédito com atendimento próximo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2EEBA411-4C4F-40BE-A450-BB086873E5E6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98107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4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Somos uma empresa de soluções de crédito localizada em Jaguaquara – BA. Conectamos clientes a opções de crédito de acordo com seu perfil e suas necessidades.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7BFD7F8-A80D-4CAA-920E-3BB754B42CD1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98107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00" b="0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0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0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0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0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0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0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0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0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0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400" b="0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082343"/>
                </a:solidFill>
                <a:latin typeface="DejaVu Sans"/>
                <a:ea typeface="DejaVu Sans"/>
                <a:cs typeface="DejaVu Sans"/>
              </a:rPr>
              <a:t>Explicamos as condições antes da contratação, para que cada cliente compreenda sua proposta e decida com segurança.</a:t>
            </a:r>
          </a:p>
        </p:txBody>
      </p:sp>
    </p:spTree>
    <p:extLst>
      <p:ext uri="{BB962C8B-B14F-4D97-AF65-F5344CB8AC3E}">
        <p14:creationId xmlns:p14="http://schemas.microsoft.com/office/powerpoint/2010/main" val="101461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65BD595C-A1DB-4AEC-ABC3-ACDC5EEEF48D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Nossa missão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88B090A9-657D-4E8D-9262-FF7771BC8A1C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35B135B-9580-473F-88D4-DCE42CFED055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00125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Facilitar o acesso</a:t>
            </a:r>
          </a:p>
          <a:p>
            <a:pPr>
              <a:defRPr sz="39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9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 soluções de crédito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9289CFA-A2D8-4619-B386-B0F9D5ECA4EB}"/>
              </a:ext>
            </a:extLst>
          </p:cNvPr>
          <p:cNvSpPr>
            <a:spLocks noGrp="1"/>
          </p:cNvSpPr>
          <p:nvPr/>
        </p:nvSpPr>
        <p:spPr>
          <a:xfrm>
            <a:off x="685800" y="3714750"/>
            <a:ext cx="990600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4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4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 atendimento humanizado, transparência e responsabilidade, ajudando nossos clientes a realizar seus planos e organizar sua vida financeira.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4C16202-F267-44F0-8445-E7C9B1E79209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952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75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AFC4DC"/>
                </a:solidFill>
                <a:latin typeface="DejaVu Sans"/>
                <a:ea typeface="DejaVu Sans"/>
                <a:cs typeface="DejaVu Sans"/>
              </a:rPr>
              <a:t>Proposta institucional para validação da empresa</a:t>
            </a:r>
          </a:p>
        </p:txBody>
      </p:sp>
    </p:spTree>
    <p:extLst>
      <p:ext uri="{BB962C8B-B14F-4D97-AF65-F5344CB8AC3E}">
        <p14:creationId xmlns:p14="http://schemas.microsoft.com/office/powerpoint/2010/main" val="21382062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7E714433-DB91-435F-AD18-FB29019BAFB9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 dirty="0">
                <a:solidFill>
                  <a:srgbClr val="082343"/>
                </a:solidFill>
                <a:latin typeface="DejaVu Sans"/>
                <a:ea typeface="DejaVu Sans"/>
                <a:cs typeface="DejaVu Sans"/>
              </a:rPr>
              <a:t>Nossa </a:t>
            </a:r>
            <a:r>
              <a:rPr sz="3600" b="1" dirty="0" err="1">
                <a:solidFill>
                  <a:srgbClr val="082343"/>
                </a:solidFill>
                <a:latin typeface="DejaVu Sans"/>
                <a:ea typeface="DejaVu Sans"/>
                <a:cs typeface="DejaVu Sans"/>
              </a:rPr>
              <a:t>visão</a:t>
            </a:r>
            <a:endParaRPr sz="3600" b="1" dirty="0">
              <a:solidFill>
                <a:srgbClr val="08234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CC88A8DC-6A6E-43C0-9191-61CEFDBA4B25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72A8154E-A4FF-4B42-93E5-51042D8BDFB2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2870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82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82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82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82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82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82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82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82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82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82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82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pPr>
            <a:r>
              <a:rPr lang="pt-BR" sz="2000" dirty="0"/>
              <a:t>Ser referência nacional em soluções de crédito, reconhecida pela confiança, pela qualidade do atendimento e pelo compromisso em oferecer opções adequadas às necessidades de cada cliente</a:t>
            </a:r>
            <a:r>
              <a:rPr lang="pt-BR" dirty="0"/>
              <a:t>.</a:t>
            </a:r>
            <a:endParaRPr lang="pt-BR" sz="3825" b="1" dirty="0">
              <a:solidFill>
                <a:srgbClr val="1768B3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BA9FAA01-3E68-47AB-98AE-6AC5CE5419A2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904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Proposta institucional para validação da empresa</a:t>
            </a:r>
          </a:p>
        </p:txBody>
      </p:sp>
    </p:spTree>
    <p:extLst>
      <p:ext uri="{BB962C8B-B14F-4D97-AF65-F5344CB8AC3E}">
        <p14:creationId xmlns:p14="http://schemas.microsoft.com/office/powerpoint/2010/main" val="521734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>
            <a:extLst>
              <a:ext uri="{FF2B5EF4-FFF2-40B4-BE49-F238E27FC236}">
                <a16:creationId xmlns:a16="http://schemas.microsoft.com/office/drawing/2014/main" id="{13F4FDC7-3D7C-4F7C-A2CB-405DAFF5C1FC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rPr>
              <a:t>Nossos valores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3D40944A-2FF8-4207-BC65-37CE3AB795C1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6DEA518C-E7CF-4943-AE21-10CEB88970B5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5048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rPr>
              <a:t>Ética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3B918AB3-3DE8-4510-B9A9-E333883985BF}"/>
              </a:ext>
            </a:extLst>
          </p:cNvPr>
          <p:cNvSpPr>
            <a:spLocks noGrp="1"/>
          </p:cNvSpPr>
          <p:nvPr/>
        </p:nvSpPr>
        <p:spPr>
          <a:xfrm>
            <a:off x="685800" y="2181225"/>
            <a:ext cx="5048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Atuação correta em cada atendimento.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1212D133-5167-4A9E-B4DF-7EA17FEBB523}"/>
              </a:ext>
            </a:extLst>
          </p:cNvPr>
          <p:cNvSpPr>
            <a:spLocks noGrp="1"/>
          </p:cNvSpPr>
          <p:nvPr/>
        </p:nvSpPr>
        <p:spPr>
          <a:xfrm>
            <a:off x="685800" y="3095625"/>
            <a:ext cx="5048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rPr>
              <a:t>Transparência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CFDB03C-6B4A-495F-AF62-48580A7D457A}"/>
              </a:ext>
            </a:extLst>
          </p:cNvPr>
          <p:cNvSpPr>
            <a:spLocks noGrp="1"/>
          </p:cNvSpPr>
          <p:nvPr/>
        </p:nvSpPr>
        <p:spPr>
          <a:xfrm>
            <a:off x="685800" y="3562350"/>
            <a:ext cx="5048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Condições explicadas com clareza.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62A7500F-F21C-4096-A7D5-F7AE50DF3945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5048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rPr>
              <a:t>Respeito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05CFF06A-825A-4830-A2B0-6FBE374C4380}"/>
              </a:ext>
            </a:extLst>
          </p:cNvPr>
          <p:cNvSpPr>
            <a:spLocks noGrp="1"/>
          </p:cNvSpPr>
          <p:nvPr/>
        </p:nvSpPr>
        <p:spPr>
          <a:xfrm>
            <a:off x="685800" y="4943475"/>
            <a:ext cx="5048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Atenção ao perfil de cada pessoa.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7F045A7B-F0CE-4AD0-8B38-8A903D3B6431}"/>
              </a:ext>
            </a:extLst>
          </p:cNvPr>
          <p:cNvSpPr>
            <a:spLocks noGrp="1"/>
          </p:cNvSpPr>
          <p:nvPr/>
        </p:nvSpPr>
        <p:spPr>
          <a:xfrm>
            <a:off x="6477000" y="1714500"/>
            <a:ext cx="5048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rPr>
              <a:t>Responsabilidade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43F705A7-77EC-449D-9672-F20B2EEDE045}"/>
              </a:ext>
            </a:extLst>
          </p:cNvPr>
          <p:cNvSpPr>
            <a:spLocks noGrp="1"/>
          </p:cNvSpPr>
          <p:nvPr/>
        </p:nvSpPr>
        <p:spPr>
          <a:xfrm>
            <a:off x="6477000" y="2181225"/>
            <a:ext cx="5048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Cuidado na apresentação das opções.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C2E4A47A-A621-41F8-9C06-C6701087E04E}"/>
              </a:ext>
            </a:extLst>
          </p:cNvPr>
          <p:cNvSpPr>
            <a:spLocks noGrp="1"/>
          </p:cNvSpPr>
          <p:nvPr/>
        </p:nvSpPr>
        <p:spPr>
          <a:xfrm>
            <a:off x="6477000" y="3095625"/>
            <a:ext cx="5048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rPr>
              <a:t>Atendimento humanizado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30D26033-0ECA-4747-B19D-CCDF39E62D47}"/>
              </a:ext>
            </a:extLst>
          </p:cNvPr>
          <p:cNvSpPr>
            <a:spLocks noGrp="1"/>
          </p:cNvSpPr>
          <p:nvPr/>
        </p:nvSpPr>
        <p:spPr>
          <a:xfrm>
            <a:off x="6477000" y="3562350"/>
            <a:ext cx="5048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Escuta e acolhimento em cada contato.</a:t>
            </a: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24956744-6EDC-41E2-8432-F4D08A769891}"/>
              </a:ext>
            </a:extLst>
          </p:cNvPr>
          <p:cNvSpPr>
            <a:spLocks noGrp="1"/>
          </p:cNvSpPr>
          <p:nvPr/>
        </p:nvSpPr>
        <p:spPr>
          <a:xfrm>
            <a:off x="6477000" y="4476750"/>
            <a:ext cx="5048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rPr>
              <a:t>Compromisso com o cliente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F4E41ACA-4A13-45AD-99AF-171097A0AF25}"/>
              </a:ext>
            </a:extLst>
          </p:cNvPr>
          <p:cNvSpPr>
            <a:spLocks noGrp="1"/>
          </p:cNvSpPr>
          <p:nvPr/>
        </p:nvSpPr>
        <p:spPr>
          <a:xfrm>
            <a:off x="6477000" y="4943475"/>
            <a:ext cx="5048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Orientação para uma decisão consciente.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4693FDB-CFE1-4B26-8956-8413691C4287}"/>
              </a:ext>
            </a:extLst>
          </p:cNvPr>
          <p:cNvSpPr>
            <a:spLocks noGrp="1"/>
          </p:cNvSpPr>
          <p:nvPr/>
        </p:nvSpPr>
        <p:spPr>
          <a:xfrm>
            <a:off x="685800" y="6191250"/>
            <a:ext cx="904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2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2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Proposta institucional para validação da empresa</a:t>
            </a:r>
          </a:p>
        </p:txBody>
      </p:sp>
    </p:spTree>
    <p:extLst>
      <p:ext uri="{BB962C8B-B14F-4D97-AF65-F5344CB8AC3E}">
        <p14:creationId xmlns:p14="http://schemas.microsoft.com/office/powerpoint/2010/main" val="1869405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id="{80A93A52-7CCC-4B2C-B547-9484EC8AABD7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rPr>
              <a:t>Principais serviços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4352C2C-854D-4574-BBD1-E545EDD72100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040AE3E0-C2B2-40D4-9B70-8965051FE17C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34766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rPr>
              <a:t>Consignado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16BB8DBA-BF1D-4D9C-AA66-7DAFFA93D845}"/>
              </a:ext>
            </a:extLst>
          </p:cNvPr>
          <p:cNvSpPr>
            <a:spLocks noGrp="1"/>
          </p:cNvSpPr>
          <p:nvPr/>
        </p:nvSpPr>
        <p:spPr>
          <a:xfrm>
            <a:off x="685800" y="2714625"/>
            <a:ext cx="3476625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INSS</a:t>
            </a:r>
          </a:p>
          <a:p>
            <a: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Servidores públicos</a:t>
            </a:r>
          </a:p>
          <a:p>
            <a: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Portabilidade</a:t>
            </a:r>
          </a:p>
          <a:p>
            <a: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Refinanciamento com</a:t>
            </a:r>
          </a:p>
          <a:p>
            <a: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possibilidade de troco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F9BE31F2-8434-475C-853D-BD6C26F15E46}"/>
              </a:ext>
            </a:extLst>
          </p:cNvPr>
          <p:cNvSpPr>
            <a:spLocks noGrp="1"/>
          </p:cNvSpPr>
          <p:nvPr/>
        </p:nvSpPr>
        <p:spPr>
          <a:xfrm>
            <a:off x="4400550" y="1762125"/>
            <a:ext cx="34766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rPr>
              <a:t>Crédito e antecipação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D2F8FC4F-B888-4225-B1C6-D094A893BD85}"/>
              </a:ext>
            </a:extLst>
          </p:cNvPr>
          <p:cNvSpPr>
            <a:spLocks noGrp="1"/>
          </p:cNvSpPr>
          <p:nvPr/>
        </p:nvSpPr>
        <p:spPr>
          <a:xfrm>
            <a:off x="4400550" y="2714625"/>
            <a:ext cx="3476625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lang="pt-BR" sz="1875" b="0" dirty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Empréstimo </a:t>
            </a:r>
            <a:r>
              <a:rPr lang="pt-BR" dirty="0"/>
              <a:t>c</a:t>
            </a:r>
            <a:r>
              <a:rPr sz="1875" b="0" dirty="0" err="1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artão</a:t>
            </a:r>
            <a:r>
              <a:rPr sz="1875" b="0" dirty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 de Crédito</a:t>
            </a:r>
            <a:endParaRPr lang="pt-BR" sz="1875" b="0" dirty="0">
              <a:solidFill>
                <a:srgbClr val="42566D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lang="pt-BR" dirty="0" err="1"/>
              <a:t>Microcredito</a:t>
            </a:r>
            <a:endParaRPr sz="1875" b="0" dirty="0">
              <a:solidFill>
                <a:srgbClr val="42566D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dirty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Conta de </a:t>
            </a:r>
            <a:r>
              <a:rPr sz="1875" b="0" dirty="0" err="1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energia</a:t>
            </a:r>
            <a:endParaRPr sz="1875" b="0" dirty="0">
              <a:solidFill>
                <a:srgbClr val="42566D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dirty="0" err="1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Beneficiários</a:t>
            </a:r>
            <a:r>
              <a:rPr sz="1875" b="0" dirty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 do Bolsa Família</a:t>
            </a:r>
          </a:p>
          <a:p>
            <a: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dirty="0" err="1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Trabalhador</a:t>
            </a:r>
            <a:r>
              <a:rPr sz="1875" b="0" dirty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 CLT</a:t>
            </a:r>
          </a:p>
          <a:p>
            <a: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dirty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Crédito </a:t>
            </a:r>
            <a:r>
              <a:rPr sz="1875" b="0" dirty="0" err="1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pessoal</a:t>
            </a:r>
            <a:endParaRPr sz="1875" b="0" dirty="0">
              <a:solidFill>
                <a:srgbClr val="42566D"/>
              </a:solidFill>
              <a:latin typeface="DejaVu Sans"/>
              <a:ea typeface="DejaVu Sans"/>
              <a:cs typeface="DejaVu Sans"/>
            </a:endParaRPr>
          </a:p>
          <a:p>
            <a: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 dirty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Saque-</a:t>
            </a:r>
            <a:r>
              <a:rPr sz="1875" b="0" dirty="0" err="1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aniversário</a:t>
            </a:r>
            <a:r>
              <a:rPr sz="1875" b="0" dirty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 FGTS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AD8CD0F-BBD8-40DA-81F1-1606E015B0A0}"/>
              </a:ext>
            </a:extLst>
          </p:cNvPr>
          <p:cNvSpPr>
            <a:spLocks noGrp="1"/>
          </p:cNvSpPr>
          <p:nvPr/>
        </p:nvSpPr>
        <p:spPr>
          <a:xfrm>
            <a:off x="8115300" y="1762125"/>
            <a:ext cx="347662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68B3"/>
                </a:solidFill>
                <a:latin typeface="DejaVu Sans"/>
                <a:ea typeface="DejaVu Sans"/>
                <a:cs typeface="DejaVu Sans"/>
              </a:rPr>
              <a:t>Outras soluções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48ECA750-EA1B-4511-A51A-1E941295E8A4}"/>
              </a:ext>
            </a:extLst>
          </p:cNvPr>
          <p:cNvSpPr>
            <a:spLocks noGrp="1"/>
          </p:cNvSpPr>
          <p:nvPr/>
        </p:nvSpPr>
        <p:spPr>
          <a:xfrm>
            <a:off x="8115300" y="2714625"/>
            <a:ext cx="3476625" cy="2857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Garantia de veículo</a:t>
            </a:r>
          </a:p>
          <a:p>
            <a: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Consórcios</a:t>
            </a:r>
          </a:p>
          <a:p>
            <a: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Cartas de crédito</a:t>
            </a:r>
          </a:p>
          <a:p>
            <a:pPr>
              <a:def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Maquininhas Ton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D1719959-BDD9-4F44-A0BE-74FD336BCECB}"/>
              </a:ext>
            </a:extLst>
          </p:cNvPr>
          <p:cNvSpPr>
            <a:spLocks noGrp="1"/>
          </p:cNvSpPr>
          <p:nvPr/>
        </p:nvSpPr>
        <p:spPr>
          <a:xfrm>
            <a:off x="685800" y="5753100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Crédito sujeito à análise e às condições de cada modalidade. Crédito para beneficiários do Bolsa Família é uma contratação independente do benefício.</a:t>
            </a:r>
          </a:p>
        </p:txBody>
      </p:sp>
    </p:spTree>
    <p:extLst>
      <p:ext uri="{BB962C8B-B14F-4D97-AF65-F5344CB8AC3E}">
        <p14:creationId xmlns:p14="http://schemas.microsoft.com/office/powerpoint/2010/main" val="694598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F7D8481F-762F-4A87-9B59-C15824CC85AC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082343"/>
                </a:solidFill>
                <a:latin typeface="DejaVu Sans"/>
                <a:ea typeface="DejaVu Sans"/>
                <a:cs typeface="DejaVu Sans"/>
              </a:rPr>
              <a:t>Nossos objetivos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1A7AF94B-222E-477F-951E-6B007CA73495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8B340D31-571E-49E8-83BD-AF7E01E93F0B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0E77861F-86D1-49ED-A62D-242495EC4A7B}"/>
              </a:ext>
            </a:extLst>
          </p:cNvPr>
          <p:cNvSpPr>
            <a:spLocks noGrp="1"/>
          </p:cNvSpPr>
          <p:nvPr/>
        </p:nvSpPr>
        <p:spPr>
          <a:xfrm>
            <a:off x="1571625" y="1714500"/>
            <a:ext cx="9810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Ampliar o acesso à informação sobre crédito.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C148A14-4771-4D92-9E91-969D5C6A6D6F}"/>
              </a:ext>
            </a:extLst>
          </p:cNvPr>
          <p:cNvSpPr>
            <a:spLocks noGrp="1"/>
          </p:cNvSpPr>
          <p:nvPr/>
        </p:nvSpPr>
        <p:spPr>
          <a:xfrm>
            <a:off x="685800" y="2562225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2F874BB6-CE32-462F-A096-137CED933D6D}"/>
              </a:ext>
            </a:extLst>
          </p:cNvPr>
          <p:cNvSpPr>
            <a:spLocks noGrp="1"/>
          </p:cNvSpPr>
          <p:nvPr/>
        </p:nvSpPr>
        <p:spPr>
          <a:xfrm>
            <a:off x="1571625" y="2562225"/>
            <a:ext cx="9810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Oferecer atendimento ágil, personalizado e transparente.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AFF835F3-6A02-4085-8655-A20C9148AD96}"/>
              </a:ext>
            </a:extLst>
          </p:cNvPr>
          <p:cNvSpPr>
            <a:spLocks noGrp="1"/>
          </p:cNvSpPr>
          <p:nvPr/>
        </p:nvSpPr>
        <p:spPr>
          <a:xfrm>
            <a:off x="685800" y="340995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C0A62E4-31EA-4C20-8439-D1FB8134D987}"/>
              </a:ext>
            </a:extLst>
          </p:cNvPr>
          <p:cNvSpPr>
            <a:spLocks noGrp="1"/>
          </p:cNvSpPr>
          <p:nvPr/>
        </p:nvSpPr>
        <p:spPr>
          <a:xfrm>
            <a:off x="1571625" y="3409950"/>
            <a:ext cx="9810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Auxiliar na comparação de condições e na compreensão</a:t>
            </a:r>
          </a:p>
          <a:p>
            <a: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de parcelas, prazos, taxas e custo total.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53D54269-01F8-4C82-8026-3AE532960C5C}"/>
              </a:ext>
            </a:extLst>
          </p:cNvPr>
          <p:cNvSpPr>
            <a:spLocks noGrp="1"/>
          </p:cNvSpPr>
          <p:nvPr/>
        </p:nvSpPr>
        <p:spPr>
          <a:xfrm>
            <a:off x="685800" y="4257675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F76CCF79-E916-4249-B34C-20BDBACBE2DB}"/>
              </a:ext>
            </a:extLst>
          </p:cNvPr>
          <p:cNvSpPr>
            <a:spLocks noGrp="1"/>
          </p:cNvSpPr>
          <p:nvPr/>
        </p:nvSpPr>
        <p:spPr>
          <a:xfrm>
            <a:off x="1571625" y="4257675"/>
            <a:ext cx="9810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Construir relacionamentos duradouros com clientes e parceiros.</a:t>
            </a: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A7EF9BA8-E9F6-482F-AB77-2A2A01B37E27}"/>
              </a:ext>
            </a:extLst>
          </p:cNvPr>
          <p:cNvSpPr>
            <a:spLocks noGrp="1"/>
          </p:cNvSpPr>
          <p:nvPr/>
        </p:nvSpPr>
        <p:spPr>
          <a:xfrm>
            <a:off x="685800" y="5105400"/>
            <a:ext cx="666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F28A2B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89EBBED-DD1E-4975-825E-29F65FB00F66}"/>
              </a:ext>
            </a:extLst>
          </p:cNvPr>
          <p:cNvSpPr>
            <a:spLocks noGrp="1"/>
          </p:cNvSpPr>
          <p:nvPr/>
        </p:nvSpPr>
        <p:spPr>
          <a:xfrm>
            <a:off x="1571625" y="5105400"/>
            <a:ext cx="9810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42566D"/>
                </a:solidFill>
                <a:latin typeface="DejaVu Sans"/>
                <a:ea typeface="DejaVu Sans"/>
                <a:cs typeface="DejaVu Sans"/>
              </a:rPr>
              <a:t>Crescer de forma sustentável, com qualidade no atendimento.</a:t>
            </a:r>
          </a:p>
        </p:txBody>
      </p:sp>
    </p:spTree>
    <p:extLst>
      <p:ext uri="{BB962C8B-B14F-4D97-AF65-F5344CB8AC3E}">
        <p14:creationId xmlns:p14="http://schemas.microsoft.com/office/powerpoint/2010/main" val="1036589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2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>
            <a:extLst>
              <a:ext uri="{FF2B5EF4-FFF2-40B4-BE49-F238E27FC236}">
                <a16:creationId xmlns:a16="http://schemas.microsoft.com/office/drawing/2014/main" id="{C92FF64D-6CE7-4CA6-AE9C-E3E348339D19}"/>
              </a:ext>
            </a:extLst>
          </p:cNvPr>
          <p:cNvSpPr>
            <a:spLocks noGrp="1"/>
          </p:cNvSpPr>
          <p:nvPr/>
        </p:nvSpPr>
        <p:spPr>
          <a:xfrm>
            <a:off x="685800" y="590550"/>
            <a:ext cx="108204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Fale com a Innovare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97F0C537-13F7-47AD-B7F3-C600108CBF60}"/>
              </a:ext>
            </a:extLst>
          </p:cNvPr>
          <p:cNvSpPr>
            <a:spLocks noGrp="1"/>
          </p:cNvSpPr>
          <p:nvPr/>
        </p:nvSpPr>
        <p:spPr>
          <a:xfrm>
            <a:off x="11049000" y="628650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AFC4DC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FE54632A-E571-4816-8084-4B53000B4639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287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Conte com a Innovare para conhecer as possibilidades e dar o próximo passo nos seus planos.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B3F354A1-045A-4082-99C4-F2EF27E56EE2}"/>
              </a:ext>
            </a:extLst>
          </p:cNvPr>
          <p:cNvSpPr>
            <a:spLocks noGrp="1"/>
          </p:cNvSpPr>
          <p:nvPr/>
        </p:nvSpPr>
        <p:spPr>
          <a:xfrm>
            <a:off x="685800" y="4095750"/>
            <a:ext cx="3810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1875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1875" b="1">
                <a:solidFill>
                  <a:srgbClr val="F28A2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F28A2B"/>
                </a:solidFill>
                <a:latin typeface="DejaVu Sans"/>
                <a:ea typeface="DejaVu Sans"/>
                <a:cs typeface="DejaVu Sans"/>
              </a:rPr>
              <a:t>WhatsApp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DAFA405-D236-4C08-B9EA-E17700FF01E5}"/>
              </a:ext>
            </a:extLst>
          </p:cNvPr>
          <p:cNvSpPr>
            <a:spLocks noGrp="1"/>
          </p:cNvSpPr>
          <p:nvPr/>
        </p:nvSpPr>
        <p:spPr>
          <a:xfrm>
            <a:off x="685800" y="4524375"/>
            <a:ext cx="9525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(73) 99112-1589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3F215A76-AEDF-4E0A-AA3F-D0524D419909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10001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Rua Avelar, nº 14, Centro</a:t>
            </a:r>
          </a:p>
          <a:p>
            <a:pPr>
              <a:def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Jaguaquara/BA</a:t>
            </a:r>
          </a:p>
        </p:txBody>
      </p:sp>
    </p:spTree>
    <p:extLst>
      <p:ext uri="{BB962C8B-B14F-4D97-AF65-F5344CB8AC3E}">
        <p14:creationId xmlns:p14="http://schemas.microsoft.com/office/powerpoint/2010/main" val="105696699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</Words>
  <Application>Microsoft Office PowerPoint</Application>
  <DocSecurity>0</DocSecurity>
  <PresentationFormat>Widescreen</PresentationFormat>
  <Paragraphs>83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Aptos</vt:lpstr>
      <vt:lpstr>DejaVu Sans</vt:lpstr>
      <vt:lpstr>ChatGPT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innovare itau</cp:lastModifiedBy>
  <cp:revision>1</cp:revision>
  <dcterms:created xsi:type="dcterms:W3CDTF">2026-10-21T18:45:01Z</dcterms:created>
  <dcterms:modified xsi:type="dcterms:W3CDTF">2026-10-22T14:51:47Z</dcterms:modified>
</cp:coreProperties>
</file>